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2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9150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开场：各位老师好，我们是第 3 组，本次是第 2 次阶段性评审，讲的是迭代 2（10-09 至 10-22）的进展。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本次讲述分 8 个板块：项目概况、迭代目标、任务与成果物、成员产出、关键技术、质量保障、构建部署、演示与进度。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需求工程已完成：30 个用户故事、86 个故事点，7 次迭代与 7 次评审一一对应。方法上采用 Scrum 迭代开发 + 动态 Product Backlog。要点：为满足课程基线需求验收，本轮提前交付了原规划于迭代 3 的买家主流程。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本轮 4 个目标：完成基线核心功能；打通前后端主流程；建立自动化测试；完成成果验收 5 类成果物。全部达成，这也是后面逐页要证明的。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本轮共 16 项任务全部完成，本页按模块归并成 10 项关键任务展示。提醒：任务与完成人都能在 GitHub commit 里追溯到。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是重点。每人独立完成、都有可公网访问的成果物：高佳豪（骨架/状态机/Docker/评审材料）、李帆（持久化/卖家接口/意向接口/查询接口）、范与恒（卖家后台四页面与会话管理）、林炜博（买家端四页面并完成接口对接）、叶文锦（103 个自动化用例与缺陷闭环）。若时间够，可请每位成员各讲一句自己做了什么。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三个技术点里最值得讲的是前两个：商品状态机只有在售 / 已冻结 / 已下架三个状态，冻结可以回退到在售，非法流转一律拒绝，把「一件商品同时只能被一个人谈」的独占性写进代码；口令码排队实现免登录提交、8 位唯一口令码、按提交时间算位次，并在提交时锁商品行以支撑并发。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质量这块用数字说：103 个自动化用例、0 失败 0 错误；接口测试走真实 HTTP 调用而非 mock。缺陷登记 4 条（3 个缺陷 + 1 条风险）全部闭环，可以举例 BUG-02（高危：发布接口缺登录校验）与 NOTE-01（多行查询异常）。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验收 5 类成果物已全部就绪。部署这块特别说明：考虑到网络环境，我们提供的是离线镜像包，docker load 之后一条 compose 命令即可启动，不需要联网也不需要在目标机器上重新构建。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演示环节请配合实机操作：卖家登录 → 发布商品 → 买家提交意向拿口令码 → 凭码查询位次 → 卖家查看意向人。顺带讲一个真实缺陷定位案例：nginx 转发丢失 Host 端口，导致浏览器请求被误判跨域返回 403；命令行 curl 不带 Origin 头所以不复现，最后靠对比请求头定位到根因。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当前进度约 65%（依据：需求工程全部完成 + 迭代 2 交付约 60/86 故事点）。下一步补齐挑战需求：交易闭环（队首进入交易自动冻结、标记成交/失败、失败后作废或重新排队）、意向修改与撤销、历史商品的意向结果追溯。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以上是第 3 组第 2 次评审汇报，请老师提问与指正。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063240"/>
            <a:ext cx="1554480" cy="1554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在线购物系统 · 第 3 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694944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4000" b="1" kern="0" spc="2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2 次阶段性评审报告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2578608"/>
            <a:ext cx="13716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74320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kern="0" spc="1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迭代 2　2026-10-09 ～ 2026-10-22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61188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9F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组长：高佳豪　｜　组员：李帆、范与恒、林炜博、叶文锦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82296" cy="42062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80010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本次讲述内容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547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80744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07008" y="1353312"/>
            <a:ext cx="30403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项目概况与迭代规划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07008" y="1673352"/>
            <a:ext cx="30403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需求工程成果、7 次迭代节奏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32020" y="1234440"/>
            <a:ext cx="39547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14900" y="1380744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1828" y="1353312"/>
            <a:ext cx="30403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迭代 2 目标与周期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1828" y="1673352"/>
            <a:ext cx="30403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本轮要交付什么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221992"/>
            <a:ext cx="39547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368296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07008" y="2340864"/>
            <a:ext cx="30403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任务计划与完成情况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2660904"/>
            <a:ext cx="30403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项任务的推进结果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32020" y="2221992"/>
            <a:ext cx="39547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14900" y="2368296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481828" y="2340864"/>
            <a:ext cx="30403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各成员产出与分工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1828" y="2660904"/>
            <a:ext cx="30403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五个人的具体贡献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209544"/>
            <a:ext cx="39547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3355848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207008" y="3328416"/>
            <a:ext cx="30403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关键技术实现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07008" y="3648456"/>
            <a:ext cx="30403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状态机、口令码排队、持久化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32020" y="3209544"/>
            <a:ext cx="39547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14900" y="3355848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481828" y="3328416"/>
            <a:ext cx="30403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质量保障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1828" y="3648456"/>
            <a:ext cx="30403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 个自动化用例与缺陷闭环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197096"/>
            <a:ext cx="39547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080" y="4343400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207008" y="4315968"/>
            <a:ext cx="30403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构建与部署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07008" y="4636008"/>
            <a:ext cx="30403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 / 部署 / 运行三类证据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32020" y="4197096"/>
            <a:ext cx="39547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914900" y="4343400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5481828" y="4315968"/>
            <a:ext cx="30403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基线主流程演示与进度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81828" y="4636008"/>
            <a:ext cx="30403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端到端实测结果与下一步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82296" cy="42062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80010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项目概况与迭代规划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9264"/>
            <a:ext cx="8001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单卖家 · 单件在售的在线购物系统（挑战升级：购买意向排队管理）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621024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1508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需求工程已完成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1947672"/>
            <a:ext cx="105156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783080" y="207568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个用户故事（US）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2798064"/>
            <a:ext cx="105156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783080" y="29260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个故事点（Story Point）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3648456"/>
            <a:ext cx="105156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783080" y="377647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次迭代 / 7 次评审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52544" y="1325880"/>
            <a:ext cx="4334256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53712" y="15087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开发方法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53712" y="1947672"/>
            <a:ext cx="4572000" cy="2423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迭代开发</a:t>
            </a:r>
            <a:endParaRPr lang="en-US" sz="1300" dirty="0"/>
          </a:p>
          <a:p>
            <a:pPr marL="0" lvl="1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次迭代 × 2 周，与 7 次阶段性评审一一对应；每个迭代产出可演示的半成品（基线 7 条需求已拆入迭代）。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动态 Product Backlog</a:t>
            </a:r>
            <a:endParaRPr lang="en-US" sz="1300" dirty="0"/>
          </a:p>
          <a:p>
            <a:pPr marL="0" lvl="1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每迭代可接纳新增需求；为满足基线验收，本轮提前交付了原规划于迭代 3 的买家主流程。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工程化实践</a:t>
            </a:r>
            <a:endParaRPr lang="en-US" sz="1300" dirty="0"/>
          </a:p>
          <a:p>
            <a:pPr marL="0" lvl="1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分支 + PR 代码审查、缺陷登记与回归、自动化测试、Docker 化部署。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82296" cy="42062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80010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迭代 2 目标与周期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9264"/>
            <a:ext cx="8001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2026-10-09 ～ 2026-10-22（本次评审所评迭代）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554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98448" y="149047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完成基线核心功能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98448" y="1783080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卖家登录 / 发布商品 / 单件在售约束；买家提交购买意向并获取口令码；卖家查看意向购买人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313432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" y="249631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496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98448" y="243230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打通主流程前后端联调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98448" y="2724912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「买家提交意向 → 卖家查看意向人」端到端跑通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255264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8368" y="343814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3438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98448" y="337413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建立自动化测试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98448" y="3666744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后端单元与接口测试（JUnit + REST Assured），覆盖登录 / 发布 / 意向 / 鉴权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197096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" y="437997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4379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98448" y="431596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完成成果验收 5 类成果物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98448" y="4608576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 / 代码 / 构建 / 部署 / 运行 全部就绪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82296" cy="42062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80010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任务计划与完成情况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9264"/>
            <a:ext cx="8001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 16 项任务全部完成（下表按模块归并为 10 项，含为基线验收提前交付的内容）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319272"/>
        </p:xfrm>
        <a:graphic>
          <a:graphicData uri="http://schemas.openxmlformats.org/drawingml/2006/table">
            <a:tbl>
              <a:tblPr/>
              <a:tblGrid>
                <a:gridCol w="6035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任务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负责人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状态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后端骨架与数据持久化（US-25）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李帆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8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已完成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卖家登录 / 修改密码 / 发布商品接口（US-11/12/13/26）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李帆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8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已完成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买家意向接口：提交意向 + 口令码查询（US-04~07、29、30）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李帆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8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已完成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卖家查询接口：当前商品 / 意向人 / 历史商品（US-15/16/21）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李帆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8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已完成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商品状态机与单件在售约束（US-14、US-23）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高佳豪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8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已完成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卖家后台四页面与会话管理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范与恒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8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已完成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买家端四页面与意向接口对接（US-01~07）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林炜博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8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已完成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测试用例设计、自动化脚本与缺陷登记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叶文锦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8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已完成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化与安装部署手册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高佳豪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8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已完成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 1 次成果验收材料（验收页 / 构建过程手册）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高佳豪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8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已完成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82296" cy="42062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80010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各成员产出与分工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9264"/>
            <a:ext cx="8001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每人独立完成、均有对应成果物（可追溯至 commit 与 Wiki）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776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64008" cy="93268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3560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高佳豪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755648" y="14630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组长 / SM · 后端核心业务层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175564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项目骨架；商品状态机与三态流转；单件在售约束；Docker 化与部署手册；评审与验收材料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325880"/>
            <a:ext cx="39776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325880"/>
            <a:ext cx="64008" cy="9326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43560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李帆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07608" y="14630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 · 后端卖家侧与持久层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37760" y="175564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数据持久化（Flyway + MyBatis-Plus）；登录 / 改密 / 发布接口；买家意向与口令码接口；卖家查询接口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395728"/>
            <a:ext cx="39776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395728"/>
            <a:ext cx="64008" cy="9326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50545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范与恒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755648" y="253288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 · 前端卖家后台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85800" y="2825496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卖家后台四页面（登录 / 后台首页 / 发布 / 历史）；会话管理与 401 处理；接口埋线设计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2395728"/>
            <a:ext cx="39776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395728"/>
            <a:ext cx="64008" cy="9326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50545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林炜博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007608" y="253288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· 前端买家端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37760" y="2825496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买家端四页面（首页 / 购买表单 / 结果页 / 查询页）并与后端意向接口对接；需求池维护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465576"/>
            <a:ext cx="39776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465576"/>
            <a:ext cx="64008" cy="9326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357530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叶文锦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755648" y="3602736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 · 质量保障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85800" y="3895344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测试用例设计；103 个自动化用例（单元 + 接口）；缺陷登记与回归闭环；测试执行记录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535424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85800" y="4654296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成果物均可公网访问：Wiki 页面 · GitHub 仓库 · GitHub Releases（可执行 jar）· 网盘（离线镜像包、运行录屏）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82296" cy="42062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80010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关键技术实现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9264"/>
            <a:ext cx="8001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迭代 2 里三个真正有技术含量的点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459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45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商品状态机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在售 / 已冻结 / 已下架三态流转（冻结可回退在售）；非法流转直接抛异常，把「只能一个人谈」写进代码。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41148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ProductStateMachine.java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91840" y="141732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20440" y="16459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645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520440" y="2331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口令码排队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20440" y="274320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zh-CN" alt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免登录提交 → 8 位口令码 → 凭码查位次</a:t>
            </a:r>
            <a:endParaRPr lang="zh-CN" altLang="en-US" sz="1100" dirty="0"/>
          </a:p>
          <a:p>
            <a:pPr marL="0" indent="0">
              <a:lnSpc>
                <a:spcPct val="125000"/>
              </a:lnSpc>
              <a:spcBef>
                <a:spcPts val="400"/>
              </a:spcBef>
              <a:buNone/>
            </a:pPr>
            <a:r>
              <a:rPr lang="zh-CN" alt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难点：</a:t>
            </a:r>
            <a:r>
              <a:rPr lang="zh-CN" alt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同时提交，位次重复</a:t>
            </a:r>
            <a:endParaRPr lang="zh-CN" altLang="en-US" sz="1100" dirty="0"/>
          </a:p>
          <a:p>
            <a:pPr marL="0" indent="0">
              <a:lnSpc>
                <a:spcPct val="125000"/>
              </a:lnSpc>
              <a:spcBef>
                <a:spcPts val="400"/>
              </a:spcBef>
              <a:buNone/>
            </a:pPr>
            <a:r>
              <a:rPr lang="zh-CN" alt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解决：</a:t>
            </a:r>
            <a:r>
              <a:rPr lang="zh-CN" alt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UPDATE 锁商品行，逐个处理</a:t>
            </a:r>
            <a:endParaRPr lang="zh-CN" alt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20440" y="41148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买家意向接口（US-04~07、30）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26480" y="141732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55080" y="16459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1645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55080" y="2331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数据持久化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55080" y="274320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zh-CN" alt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 版本脚本管理表结构</a:t>
            </a:r>
            <a:endParaRPr lang="zh-CN" altLang="en-US" sz="1100" dirty="0"/>
          </a:p>
          <a:p>
            <a:pPr marL="0" indent="0">
              <a:lnSpc>
                <a:spcPct val="125000"/>
              </a:lnSpc>
              <a:spcBef>
                <a:spcPts val="400"/>
              </a:spcBef>
              <a:buNone/>
            </a:pPr>
            <a:r>
              <a:rPr lang="zh-CN" alt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H2 共用；重启不丢</a:t>
            </a:r>
            <a:endParaRPr lang="zh-CN" altLang="en-US" sz="1100" dirty="0"/>
          </a:p>
          <a:p>
            <a:pPr marL="0" indent="0">
              <a:lnSpc>
                <a:spcPct val="125000"/>
              </a:lnSpc>
              <a:spcBef>
                <a:spcPts val="400"/>
              </a:spcBef>
              <a:buNone/>
            </a:pPr>
            <a:r>
              <a:rPr lang="zh-CN" alt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难点：</a:t>
            </a:r>
            <a:r>
              <a:rPr lang="zh-CN" alt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本地旧表，启动报错</a:t>
            </a:r>
            <a:endParaRPr lang="zh-CN" altLang="en-US" sz="1100" dirty="0"/>
          </a:p>
          <a:p>
            <a:pPr marL="0" indent="0">
              <a:lnSpc>
                <a:spcPct val="125000"/>
              </a:lnSpc>
              <a:spcBef>
                <a:spcPts val="400"/>
              </a:spcBef>
              <a:buNone/>
            </a:pPr>
            <a:r>
              <a:rPr lang="zh-CN" alt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解决：</a:t>
            </a:r>
            <a:r>
              <a:rPr lang="zh-CN" alt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基线迁移（第 0 版）</a:t>
            </a:r>
            <a:endParaRPr lang="zh-CN" alt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41148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US-25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82296" cy="42062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80010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质量保障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9264"/>
            <a:ext cx="8001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接口自动化测试 + 缺陷登记闭环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91056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103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自动化用例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591056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F8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474720" y="2286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失败 / 错误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591056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6309360" y="2286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条缺陷登记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8229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13639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测试与缺陷闭环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3483864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接口测试用 REST Assured 走真实 HTTP 调用（随机端口 + H2），不是 mock。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缺陷登记 4 条（3 个缺陷 + 1 条风险），均已闭环：BUG-02（高危，发布接口缺登录校验）、BUG-01（中危，me 接口返回空）、RISK-01（明文密码）、NOTE-01（selectOne 多行异常）修复后回归通过。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运行类成果物：测试用例清单 + 自动化执行脚本 + 执行成功录屏（符合验收标准第 5 项）。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82296" cy="42062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80010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构建与部署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9264"/>
            <a:ext cx="8001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验收 5 类成果物已全部就绪（需求 / 代码 / 构建 / 部署 / 运行）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560320" cy="3063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256032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26464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构建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2029968"/>
            <a:ext cx="2157984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构建过程手册（环境准备 → 编译打包 → 运行 → 结果清单）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2807208"/>
            <a:ext cx="2157984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Maven（pom.xml）+ Vite（package.json）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" y="3584448"/>
            <a:ext cx="2157984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构建产物：可执行 jar（GitHub Releases 下载）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1371600"/>
            <a:ext cx="2560320" cy="3063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371600"/>
            <a:ext cx="256032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426464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部署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93008" y="2029968"/>
            <a:ext cx="2157984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 / 前端 Dockerfile（两阶段构建）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93008" y="2807208"/>
            <a:ext cx="2157984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一键编排 MySQL8 + 后端 + 前端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93008" y="3584448"/>
            <a:ext cx="2157984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离线镜像包：docker load + 一键启动，无需联网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26480" y="1371600"/>
            <a:ext cx="2560320" cy="3063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371600"/>
            <a:ext cx="2560320" cy="5029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426464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运行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27648" y="2029968"/>
            <a:ext cx="2157984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测试用例清单、执行记录、缺陷登记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27648" y="2807208"/>
            <a:ext cx="2157984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自动化测试脚本（JUnit + REST Assured）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27648" y="3584448"/>
            <a:ext cx="2157984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自动化测试执行录屏（103 个用例全绿）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57200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5800" y="4681728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一键部署：docker load -i onlineshop-images.tar　→　docker compose -f docker-compose.deploy.yml up -d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82296" cy="42062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80010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基线主流程 · 端到端实测通过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9264"/>
            <a:ext cx="8001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已在 Docker 环境里完整跑通（前端 8080 经 nginx 代理访问后端）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01368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卖家登录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624328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123456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 rot="5400000">
            <a:off x="1983791" y="2240280"/>
            <a:ext cx="115214" cy="292608"/>
          </a:xfrm>
          <a:prstGeom prst="rtTriangle">
            <a:avLst/>
          </a:prstGeom>
          <a:solidFill>
            <a:srgbClr val="21295C"/>
          </a:solidFill>
          <a:ln/>
        </p:spPr>
      </p:sp>
      <p:sp>
        <p:nvSpPr>
          <p:cNvPr id="10" name="Shape 8"/>
          <p:cNvSpPr/>
          <p:nvPr/>
        </p:nvSpPr>
        <p:spPr>
          <a:xfrm>
            <a:off x="2144268" y="169164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2144268" y="1801368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235708" y="214884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发布商品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235708" y="2624328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单件在售约束生效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 rot="5400000">
            <a:off x="3670859" y="2240280"/>
            <a:ext cx="115214" cy="292608"/>
          </a:xfrm>
          <a:prstGeom prst="rtTriangle">
            <a:avLst/>
          </a:prstGeom>
          <a:solidFill>
            <a:srgbClr val="21295C"/>
          </a:solidFill>
          <a:ln/>
        </p:spPr>
      </p:sp>
      <p:sp>
        <p:nvSpPr>
          <p:cNvPr id="15" name="Shape 13"/>
          <p:cNvSpPr/>
          <p:nvPr/>
        </p:nvSpPr>
        <p:spPr>
          <a:xfrm>
            <a:off x="3831336" y="169164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3831336" y="1801368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922776" y="214884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买家提交意向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922776" y="2624328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拿到 8 位口令码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 rot="5400000">
            <a:off x="5357927" y="2240280"/>
            <a:ext cx="115214" cy="292608"/>
          </a:xfrm>
          <a:prstGeom prst="rtTriangle">
            <a:avLst/>
          </a:prstGeom>
          <a:solidFill>
            <a:srgbClr val="21295C"/>
          </a:solidFill>
          <a:ln/>
        </p:spPr>
      </p:sp>
      <p:sp>
        <p:nvSpPr>
          <p:cNvPr id="20" name="Shape 18"/>
          <p:cNvSpPr/>
          <p:nvPr/>
        </p:nvSpPr>
        <p:spPr>
          <a:xfrm>
            <a:off x="5518404" y="169164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5518404" y="1801368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609844" y="214884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凭口令码查询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09844" y="2624328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显示位次与状态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 rot="5400000">
            <a:off x="7044995" y="2240280"/>
            <a:ext cx="115214" cy="292608"/>
          </a:xfrm>
          <a:prstGeom prst="rtTriangle">
            <a:avLst/>
          </a:prstGeom>
          <a:solidFill>
            <a:srgbClr val="21295C"/>
          </a:solidFill>
          <a:ln/>
        </p:spPr>
      </p:sp>
      <p:sp>
        <p:nvSpPr>
          <p:cNvPr id="25" name="Shape 23"/>
          <p:cNvSpPr/>
          <p:nvPr/>
        </p:nvSpPr>
        <p:spPr>
          <a:xfrm>
            <a:off x="7205472" y="169164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7205472" y="1801368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296912" y="214884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卖家查看意向人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296912" y="2624328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先到先得列表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29184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85800" y="34015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演示结论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85800" y="3675888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实测返回：卖家登录 id=1；发布商品 status=ON_SALE；买家提交意向发放口令码（8 位、无易混字符）；凭码查询返回位次 1 / 状态 QUEUING / 电话已打码；卖家可见意向人列表。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期间定位并修复一个真实缺陷：nginx 转发丢失 Host 端口导致浏览器请求被误判跨域返回 403（命令行 curl 不复现，只有浏览器带 Origin 头才触发）。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82296" cy="42062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80010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项目进度与下一步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9264"/>
            <a:ext cx="8001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基线需求已覆盖，进入挑战需求阶段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70332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5544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当前进度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约 65%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85800" y="26974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依据：需求工程（30 个 US / 86 故事点）全部完成梳理与估点；累计完成约 60 / 86 故事点。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34290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剩余：意向修改 / 撤销（US-08、US-09）、失败后作废或重新排队、历史商品的意向结果追溯。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34840" y="1371600"/>
            <a:ext cx="42519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12700" dir="5400000" algn="bl" rotWithShape="0">
              <a:srgbClr val="9AB0C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554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下一步计划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63440" y="19659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迭代 3～4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22402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买家侧挑战需求与交易闭环：队首进入交易自动冻结、标记成交 / 失败、失败后作废或重新排队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63440" y="2743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迭代 5～7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30175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查询与历史增强（撤销意向、意向结果追溯）→ 覆盖面扩充与回归自动化 → 最终验收材料与运行录屏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63440" y="35204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持续事项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37947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需求池 v2（基线 / 挑战分类）、每迭代 Backlog Refinement、缺陷回归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7818120" y="3657600"/>
            <a:ext cx="1005840" cy="10058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7373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kern="0" spc="2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谢谢聆听，欢迎老师评审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在线购物系统 · 第 3 组　｜　组长：高佳豪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9F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Wiki：github.com/Ghhhh92/onlineshop/wiki　｜　代码：github.com/Ghhhh92/onlineshop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915</Words>
  <Application>Microsoft Office PowerPoint</Application>
  <PresentationFormat>全屏显示(16:9)</PresentationFormat>
  <Paragraphs>206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fan li</cp:lastModifiedBy>
  <cp:revision>1</cp:revision>
  <dcterms:created xsi:type="dcterms:W3CDTF">2026-10-20T08:26:55Z</dcterms:created>
  <dcterms:modified xsi:type="dcterms:W3CDTF">2026-10-21T13:32:27Z</dcterms:modified>
</cp:coreProperties>
</file>